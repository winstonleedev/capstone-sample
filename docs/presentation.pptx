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F11FDC-574A-40BD-A8D0-B0F1C27F82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72AC06-1F9B-421C-A683-32B3458212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255C35-8337-4951-B910-FE08D1E64D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49EEEA-E48B-4985-83AB-00DBF3D587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2122A1-1985-4109-BCE4-60774CDAD6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8F8CE8-1CCA-4B40-9C96-B72E28A6A8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FC0E52-AC04-461F-BAE5-AA24419278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E5AF92-5153-44D2-8E49-7EC2FC5CD0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1A95B8-1A54-47B8-AA5A-3A9C7443B5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C073C9-6607-4653-843A-E759E4F0EC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AD0165-F37C-4CBC-8946-17ACF7EF1C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.png"/>
          <p:cNvPicPr/>
          <p:nvPr/>
        </p:nvPicPr>
        <p:blipFill>
          <a:blip r:embed="rId2"/>
          <a:stretch/>
        </p:blipFill>
        <p:spPr>
          <a:xfrm>
            <a:off x="4405320" y="2064960"/>
            <a:ext cx="338112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3" descr="image.png"/>
          <p:cNvPicPr/>
          <p:nvPr/>
        </p:nvPicPr>
        <p:blipFill>
          <a:blip r:embed="rId3"/>
          <a:stretch/>
        </p:blipFill>
        <p:spPr>
          <a:xfrm>
            <a:off x="3871800" y="4268880"/>
            <a:ext cx="1257120" cy="5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4" descr="image.png"/>
          <p:cNvPicPr/>
          <p:nvPr/>
        </p:nvPicPr>
        <p:blipFill>
          <a:blip r:embed="rId4"/>
          <a:stretch/>
        </p:blipFill>
        <p:spPr>
          <a:xfrm>
            <a:off x="5281560" y="4268880"/>
            <a:ext cx="1409400" cy="5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5" descr="image.png"/>
          <p:cNvPicPr/>
          <p:nvPr/>
        </p:nvPicPr>
        <p:blipFill>
          <a:blip r:embed="rId5"/>
          <a:stretch/>
        </p:blipFill>
        <p:spPr>
          <a:xfrm>
            <a:off x="6843600" y="4268880"/>
            <a:ext cx="1476000" cy="52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6"/>
          <p:cNvSpPr/>
          <p:nvPr/>
        </p:nvSpPr>
        <p:spPr>
          <a:xfrm>
            <a:off x="5295960" y="2541240"/>
            <a:ext cx="15998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4830"/>
              </a:lnSpc>
            </a:pPr>
            <a:r>
              <a:rPr lang="en-US" sz="42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Planix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2381400" y="3364200"/>
            <a:ext cx="74293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Project &amp; Activity Orchestration Engine: A lightweight web platform designed for intuitive task structuring, team visibility, and deliverable tracking.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071960" y="4354560"/>
            <a:ext cx="8568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Julian Vance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4071960" y="4554720"/>
            <a:ext cx="8568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284C7"/>
                </a:solidFill>
                <a:effectLst/>
                <a:uFillTx/>
                <a:latin typeface="Inter Medium"/>
              </a:rPr>
              <a:t>Lead Developer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5481720" y="4354560"/>
            <a:ext cx="1009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Mateo Rivera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5481720" y="4554720"/>
            <a:ext cx="10094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284C7"/>
                </a:solidFill>
                <a:effectLst/>
                <a:uFillTx/>
                <a:latin typeface="Inter Medium"/>
              </a:rPr>
              <a:t>Backend Architect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7043760" y="4354560"/>
            <a:ext cx="1076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Lucas Silva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043760" y="4554720"/>
            <a:ext cx="10760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0284C7"/>
                </a:solidFill>
                <a:effectLst/>
                <a:uFillTx/>
                <a:latin typeface="Inter Medium"/>
              </a:rPr>
              <a:t>Frontend &amp; UX Lead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2" descr="image.png"/>
          <p:cNvPicPr/>
          <p:nvPr/>
        </p:nvPicPr>
        <p:blipFill>
          <a:blip r:embed="rId2"/>
          <a:stretch/>
        </p:blipFill>
        <p:spPr>
          <a:xfrm>
            <a:off x="619200" y="2326320"/>
            <a:ext cx="5304960" cy="28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3" descr="image.png"/>
          <p:cNvPicPr/>
          <p:nvPr/>
        </p:nvPicPr>
        <p:blipFill>
          <a:blip r:embed="rId3"/>
          <a:stretch/>
        </p:blipFill>
        <p:spPr>
          <a:xfrm>
            <a:off x="6267600" y="2326320"/>
            <a:ext cx="5304960" cy="288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4" descr="image.png"/>
          <p:cNvPicPr/>
          <p:nvPr/>
        </p:nvPicPr>
        <p:blipFill>
          <a:blip r:embed="rId4"/>
          <a:stretch/>
        </p:blipFill>
        <p:spPr>
          <a:xfrm>
            <a:off x="914400" y="2631240"/>
            <a:ext cx="130464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5"/>
          <p:cNvSpPr/>
          <p:nvPr/>
        </p:nvSpPr>
        <p:spPr>
          <a:xfrm>
            <a:off x="1219320" y="2955240"/>
            <a:ext cx="4630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284C7"/>
                </a:solidFill>
                <a:effectLst/>
                <a:uFillTx/>
                <a:latin typeface="Plus Jakarta Sans SemiBold"/>
              </a:rPr>
              <a:t>Unified Project Storage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914400" y="3317040"/>
            <a:ext cx="471456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Planix implements an integrated system that captures, structures, and manipulates projects and sub-activities in real time based on user demands.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914400" y="4114800"/>
            <a:ext cx="471456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The platform eliminates cognitive clutter by providing centralized repositories for personal initiatives, corporate operational tasks, and academic schedules.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" descr="image.png"/>
          <p:cNvPicPr/>
          <p:nvPr/>
        </p:nvPicPr>
        <p:blipFill>
          <a:blip r:embed="rId5"/>
          <a:stretch/>
        </p:blipFill>
        <p:spPr>
          <a:xfrm>
            <a:off x="6562800" y="2631240"/>
            <a:ext cx="125712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9"/>
          <p:cNvSpPr/>
          <p:nvPr/>
        </p:nvSpPr>
        <p:spPr>
          <a:xfrm>
            <a:off x="6867360" y="2955240"/>
            <a:ext cx="4630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284C7"/>
                </a:solidFill>
                <a:effectLst/>
                <a:uFillTx/>
                <a:latin typeface="Plus Jakarta Sans SemiBold"/>
              </a:rPr>
              <a:t>Operational Well-Being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6562800" y="3317040"/>
            <a:ext cx="471456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By transforming fragmented tracking into an intuitive visual workflow, the platform significantly reduces administrative friction and work anxiety.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6562800" y="4114800"/>
            <a:ext cx="47145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Users gain transparent execution timelines, rapid status toggles, and seamless activity delegation without steep onboarding hurdles.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2" descr="image.png"/>
          <p:cNvPicPr/>
          <p:nvPr/>
        </p:nvPicPr>
        <p:blipFill>
          <a:blip r:embed="rId6"/>
          <a:stretch/>
        </p:blipFill>
        <p:spPr>
          <a:xfrm>
            <a:off x="914400" y="2955240"/>
            <a:ext cx="20916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13" descr="image.png"/>
          <p:cNvPicPr/>
          <p:nvPr/>
        </p:nvPicPr>
        <p:blipFill>
          <a:blip r:embed="rId7"/>
          <a:stretch/>
        </p:blipFill>
        <p:spPr>
          <a:xfrm>
            <a:off x="6562800" y="2955240"/>
            <a:ext cx="20916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14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Executive Project Overview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ounded Rectangle 2"/>
          <p:cNvSpPr/>
          <p:nvPr/>
        </p:nvSpPr>
        <p:spPr>
          <a:xfrm>
            <a:off x="1047600" y="1957320"/>
            <a:ext cx="10096200" cy="761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1562040" y="2109960"/>
            <a:ext cx="939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Critical Deadline Slippage:</a:t>
            </a: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Target users consistently reported chronic friction in scheduling milestones, resulting in missed delivery targets and unbalanced workloads.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4"/>
          <p:cNvSpPr/>
          <p:nvPr/>
        </p:nvSpPr>
        <p:spPr>
          <a:xfrm>
            <a:off x="1047600" y="2862360"/>
            <a:ext cx="10096200" cy="761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1562040" y="3014640"/>
            <a:ext cx="939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Lack of Lightweight Tooling:</a:t>
            </a: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Mainstream enterprise project software is often over-engineered, slow to configure, and cost-prohibitive for smaller operational teams and students.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6"/>
          <p:cNvSpPr/>
          <p:nvPr/>
        </p:nvSpPr>
        <p:spPr>
          <a:xfrm>
            <a:off x="1047600" y="3767040"/>
            <a:ext cx="10096200" cy="761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1562040" y="3919680"/>
            <a:ext cx="939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Prevalence of Fragile Manual Methods:</a:t>
            </a: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Over 60% of surveyed professionals still rely on paper notebooks, improvised spreadsheets, or informal messaging threads to track key tasks.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8"/>
          <p:cNvSpPr/>
          <p:nvPr/>
        </p:nvSpPr>
        <p:spPr>
          <a:xfrm>
            <a:off x="1047600" y="4672080"/>
            <a:ext cx="10096200" cy="7617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1562040" y="4824360"/>
            <a:ext cx="939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87"/>
              </a:lnSpc>
            </a:pPr>
            <a:r>
              <a:rPr lang="en-US" sz="113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Absence of Centralized Visibility:</a:t>
            </a: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Fragmented communication leaves stakeholders without a clear single source of truth regarding deliverable status and task progression.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0"/>
          <p:cNvSpPr/>
          <p:nvPr/>
        </p:nvSpPr>
        <p:spPr>
          <a:xfrm>
            <a:off x="1047600" y="2709720"/>
            <a:ext cx="10096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11"/>
          <p:cNvSpPr/>
          <p:nvPr/>
        </p:nvSpPr>
        <p:spPr>
          <a:xfrm>
            <a:off x="1047600" y="3614760"/>
            <a:ext cx="10096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12"/>
          <p:cNvSpPr/>
          <p:nvPr/>
        </p:nvSpPr>
        <p:spPr>
          <a:xfrm>
            <a:off x="1047600" y="4519440"/>
            <a:ext cx="10096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13"/>
          <p:cNvSpPr/>
          <p:nvPr/>
        </p:nvSpPr>
        <p:spPr>
          <a:xfrm>
            <a:off x="1047600" y="5424480"/>
            <a:ext cx="100962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14" descr="image.png"/>
          <p:cNvPicPr/>
          <p:nvPr/>
        </p:nvPicPr>
        <p:blipFill>
          <a:blip r:embed="rId2"/>
          <a:stretch/>
        </p:blipFill>
        <p:spPr>
          <a:xfrm>
            <a:off x="1247760" y="213372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5" descr="image.png"/>
          <p:cNvPicPr/>
          <p:nvPr/>
        </p:nvPicPr>
        <p:blipFill>
          <a:blip r:embed="rId3"/>
          <a:stretch/>
        </p:blipFill>
        <p:spPr>
          <a:xfrm>
            <a:off x="1247760" y="3038400"/>
            <a:ext cx="19008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16" descr="image.png"/>
          <p:cNvPicPr/>
          <p:nvPr/>
        </p:nvPicPr>
        <p:blipFill>
          <a:blip r:embed="rId4"/>
          <a:stretch/>
        </p:blipFill>
        <p:spPr>
          <a:xfrm>
            <a:off x="1247760" y="3943440"/>
            <a:ext cx="13284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7" descr="image.png"/>
          <p:cNvPicPr/>
          <p:nvPr/>
        </p:nvPicPr>
        <p:blipFill>
          <a:blip r:embed="rId5"/>
          <a:stretch/>
        </p:blipFill>
        <p:spPr>
          <a:xfrm>
            <a:off x="1247760" y="4848120"/>
            <a:ext cx="21888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18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Problem Statement &amp; Gaps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2" descr="image.png"/>
          <p:cNvPicPr/>
          <p:nvPr/>
        </p:nvPicPr>
        <p:blipFill>
          <a:blip r:embed="rId2"/>
          <a:stretch/>
        </p:blipFill>
        <p:spPr>
          <a:xfrm>
            <a:off x="619200" y="2486160"/>
            <a:ext cx="3498480" cy="25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3" descr="image.png"/>
          <p:cNvPicPr/>
          <p:nvPr/>
        </p:nvPicPr>
        <p:blipFill>
          <a:blip r:embed="rId3"/>
          <a:stretch/>
        </p:blipFill>
        <p:spPr>
          <a:xfrm>
            <a:off x="4346640" y="2486160"/>
            <a:ext cx="3498480" cy="25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4" descr="image.png"/>
          <p:cNvPicPr/>
          <p:nvPr/>
        </p:nvPicPr>
        <p:blipFill>
          <a:blip r:embed="rId4"/>
          <a:stretch/>
        </p:blipFill>
        <p:spPr>
          <a:xfrm>
            <a:off x="8074080" y="2486160"/>
            <a:ext cx="3498480" cy="25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5" descr="image.png"/>
          <p:cNvPicPr/>
          <p:nvPr/>
        </p:nvPicPr>
        <p:blipFill>
          <a:blip r:embed="rId5"/>
          <a:stretch/>
        </p:blipFill>
        <p:spPr>
          <a:xfrm>
            <a:off x="876240" y="274320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6"/>
          <p:cNvSpPr/>
          <p:nvPr/>
        </p:nvSpPr>
        <p:spPr>
          <a:xfrm>
            <a:off x="876240" y="3409920"/>
            <a:ext cx="1929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Intuitive Simplicity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876240" y="3772080"/>
            <a:ext cx="29840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Deliver an uncluttered, accessible user interface that allows any user or organization to organize projects within seconds without extensive training.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8" descr="image.png"/>
          <p:cNvPicPr/>
          <p:nvPr/>
        </p:nvPicPr>
        <p:blipFill>
          <a:blip r:embed="rId6"/>
          <a:stretch/>
        </p:blipFill>
        <p:spPr>
          <a:xfrm>
            <a:off x="4603680" y="274320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9"/>
          <p:cNvSpPr/>
          <p:nvPr/>
        </p:nvSpPr>
        <p:spPr>
          <a:xfrm>
            <a:off x="4603680" y="3409920"/>
            <a:ext cx="1809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Adaptive Control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4603680" y="3772080"/>
            <a:ext cx="29840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Provide complete flexibility to register, configure, inspect, and update granular project deliverables and dependent tasks on the fly.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11" descr="image.png"/>
          <p:cNvPicPr/>
          <p:nvPr/>
        </p:nvPicPr>
        <p:blipFill>
          <a:blip r:embed="rId7"/>
          <a:stretch/>
        </p:blipFill>
        <p:spPr>
          <a:xfrm>
            <a:off x="8331120" y="274320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12"/>
          <p:cNvSpPr/>
          <p:nvPr/>
        </p:nvSpPr>
        <p:spPr>
          <a:xfrm>
            <a:off x="8331120" y="3409920"/>
            <a:ext cx="20397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Execution Freedom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8331120" y="3772080"/>
            <a:ext cx="29840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Equip teams with real-time status indicators, clean activity views, and automated exportable reports to drive faster decision-making.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14" descr="image.png"/>
          <p:cNvPicPr/>
          <p:nvPr/>
        </p:nvPicPr>
        <p:blipFill>
          <a:blip r:embed="rId8"/>
          <a:stretch/>
        </p:blipFill>
        <p:spPr>
          <a:xfrm>
            <a:off x="995400" y="2876400"/>
            <a:ext cx="25668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15" descr="image.png"/>
          <p:cNvPicPr/>
          <p:nvPr/>
        </p:nvPicPr>
        <p:blipFill>
          <a:blip r:embed="rId9"/>
          <a:stretch/>
        </p:blipFill>
        <p:spPr>
          <a:xfrm>
            <a:off x="4736880" y="28764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16" descr="image.png"/>
          <p:cNvPicPr/>
          <p:nvPr/>
        </p:nvPicPr>
        <p:blipFill>
          <a:blip r:embed="rId10"/>
          <a:stretch/>
        </p:blipFill>
        <p:spPr>
          <a:xfrm>
            <a:off x="8464320" y="28764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17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Strategic Objectives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Picture 2" descr="image.png"/>
          <p:cNvPicPr/>
          <p:nvPr/>
        </p:nvPicPr>
        <p:blipFill>
          <a:blip r:embed="rId2"/>
          <a:stretch/>
        </p:blipFill>
        <p:spPr>
          <a:xfrm>
            <a:off x="619200" y="2534760"/>
            <a:ext cx="1971360" cy="10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3" descr="image.png"/>
          <p:cNvPicPr/>
          <p:nvPr/>
        </p:nvPicPr>
        <p:blipFill>
          <a:blip r:embed="rId3"/>
          <a:stretch/>
        </p:blipFill>
        <p:spPr>
          <a:xfrm>
            <a:off x="2864520" y="3995640"/>
            <a:ext cx="1971360" cy="10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Picture 4" descr="image.png"/>
          <p:cNvPicPr/>
          <p:nvPr/>
        </p:nvPicPr>
        <p:blipFill>
          <a:blip r:embed="rId4"/>
          <a:stretch/>
        </p:blipFill>
        <p:spPr>
          <a:xfrm>
            <a:off x="5110200" y="2534760"/>
            <a:ext cx="1971360" cy="10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5" descr="image.png"/>
          <p:cNvPicPr/>
          <p:nvPr/>
        </p:nvPicPr>
        <p:blipFill>
          <a:blip r:embed="rId5"/>
          <a:stretch/>
        </p:blipFill>
        <p:spPr>
          <a:xfrm>
            <a:off x="7355520" y="3995640"/>
            <a:ext cx="1971360" cy="100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6" descr="image.png"/>
          <p:cNvPicPr/>
          <p:nvPr/>
        </p:nvPicPr>
        <p:blipFill>
          <a:blip r:embed="rId6"/>
          <a:stretch/>
        </p:blipFill>
        <p:spPr>
          <a:xfrm>
            <a:off x="9601200" y="2534760"/>
            <a:ext cx="1971360" cy="10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7"/>
          <p:cNvSpPr/>
          <p:nvPr/>
        </p:nvSpPr>
        <p:spPr>
          <a:xfrm>
            <a:off x="619200" y="3753000"/>
            <a:ext cx="10953360" cy="2808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6560" rIns="90000" bIns="-165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699840" y="2677680"/>
            <a:ext cx="1809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1" u="none" strike="noStrike">
                <a:solidFill>
                  <a:srgbClr val="0284C7"/>
                </a:solidFill>
                <a:effectLst/>
                <a:uFillTx/>
                <a:latin typeface="Plus Jakarta Sans"/>
              </a:rPr>
              <a:t>01. Research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743040" y="2915640"/>
            <a:ext cx="17236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Conducted user interviews to identify daily workflow breakdowns and pain points.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2945520" y="4138560"/>
            <a:ext cx="1809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1" u="none" strike="noStrike">
                <a:solidFill>
                  <a:srgbClr val="0284C7"/>
                </a:solidFill>
                <a:effectLst/>
                <a:uFillTx/>
                <a:latin typeface="Plus Jakarta Sans"/>
              </a:rPr>
              <a:t>02. Ideation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2988360" y="4376880"/>
            <a:ext cx="17236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Held architecture sprints and produced conceptual sketches for database modeling.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5190840" y="2677680"/>
            <a:ext cx="1809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1" u="none" strike="noStrike">
                <a:solidFill>
                  <a:srgbClr val="0284C7"/>
                </a:solidFill>
                <a:effectLst/>
                <a:uFillTx/>
                <a:latin typeface="Plus Jakarta Sans"/>
              </a:rPr>
              <a:t>03. Wireframing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5234040" y="2915640"/>
            <a:ext cx="17236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Designed user flows and low-fidelity screen layouts to test navigation logic.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7436520" y="4138560"/>
            <a:ext cx="1809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1" u="none" strike="noStrike">
                <a:solidFill>
                  <a:srgbClr val="0284C7"/>
                </a:solidFill>
                <a:effectLst/>
                <a:uFillTx/>
                <a:latin typeface="Plus Jakarta Sans"/>
              </a:rPr>
              <a:t>04. Prototyping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7479360" y="4376880"/>
            <a:ext cx="17236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Released functional beta modules to gather targeted pilot user feedback.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9681840" y="2677680"/>
            <a:ext cx="1809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1" u="none" strike="noStrike">
                <a:solidFill>
                  <a:srgbClr val="0284C7"/>
                </a:solidFill>
                <a:effectLst/>
                <a:uFillTx/>
                <a:latin typeface="Plus Jakarta Sans"/>
              </a:rPr>
              <a:t>05. Final Build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9725040" y="2915640"/>
            <a:ext cx="17236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261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Engineered production database, relational schemas, and responsive UI components.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8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Product Engineering Method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9"/>
          <p:cNvSpPr/>
          <p:nvPr/>
        </p:nvSpPr>
        <p:spPr>
          <a:xfrm>
            <a:off x="1519200" y="36813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20"/>
          <p:cNvSpPr/>
          <p:nvPr/>
        </p:nvSpPr>
        <p:spPr>
          <a:xfrm>
            <a:off x="3764880" y="36813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ounded Rectangle 21"/>
          <p:cNvSpPr/>
          <p:nvPr/>
        </p:nvSpPr>
        <p:spPr>
          <a:xfrm>
            <a:off x="6010200" y="36813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ounded Rectangle 22"/>
          <p:cNvSpPr/>
          <p:nvPr/>
        </p:nvSpPr>
        <p:spPr>
          <a:xfrm>
            <a:off x="8255880" y="36813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ounded Rectangle 23"/>
          <p:cNvSpPr/>
          <p:nvPr/>
        </p:nvSpPr>
        <p:spPr>
          <a:xfrm>
            <a:off x="10501200" y="3681360"/>
            <a:ext cx="171000" cy="17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2" descr="image.png"/>
          <p:cNvPicPr/>
          <p:nvPr/>
        </p:nvPicPr>
        <p:blipFill>
          <a:blip r:embed="rId2"/>
          <a:stretch/>
        </p:blipFill>
        <p:spPr>
          <a:xfrm>
            <a:off x="619200" y="2486160"/>
            <a:ext cx="3498480" cy="25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Picture 3" descr="image.png"/>
          <p:cNvPicPr/>
          <p:nvPr/>
        </p:nvPicPr>
        <p:blipFill>
          <a:blip r:embed="rId3"/>
          <a:stretch/>
        </p:blipFill>
        <p:spPr>
          <a:xfrm>
            <a:off x="4346640" y="2486160"/>
            <a:ext cx="3498480" cy="25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4" descr="image.png"/>
          <p:cNvPicPr/>
          <p:nvPr/>
        </p:nvPicPr>
        <p:blipFill>
          <a:blip r:embed="rId4"/>
          <a:stretch/>
        </p:blipFill>
        <p:spPr>
          <a:xfrm>
            <a:off x="8074080" y="2486160"/>
            <a:ext cx="3498480" cy="25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5" descr="image.png"/>
          <p:cNvPicPr/>
          <p:nvPr/>
        </p:nvPicPr>
        <p:blipFill>
          <a:blip r:embed="rId5"/>
          <a:stretch/>
        </p:blipFill>
        <p:spPr>
          <a:xfrm>
            <a:off x="876240" y="274320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Box 6"/>
          <p:cNvSpPr/>
          <p:nvPr/>
        </p:nvSpPr>
        <p:spPr>
          <a:xfrm>
            <a:off x="876240" y="3409920"/>
            <a:ext cx="2289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Academic &amp; Students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876240" y="3772080"/>
            <a:ext cx="298404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Individuals needing to track coursework, research phases, group submissions, and exam schedules with zero setup overhead.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8" descr="image.png"/>
          <p:cNvPicPr/>
          <p:nvPr/>
        </p:nvPicPr>
        <p:blipFill>
          <a:blip r:embed="rId6"/>
          <a:stretch/>
        </p:blipFill>
        <p:spPr>
          <a:xfrm>
            <a:off x="4603680" y="274320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9"/>
          <p:cNvSpPr/>
          <p:nvPr/>
        </p:nvSpPr>
        <p:spPr>
          <a:xfrm>
            <a:off x="4603680" y="3409920"/>
            <a:ext cx="190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Operations Teams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4603680" y="3772080"/>
            <a:ext cx="29840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Companies requiring streamlined supervision of inventory cycles, facility checklists, and recurring operational deliverables.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11" descr="image.png"/>
          <p:cNvPicPr/>
          <p:nvPr/>
        </p:nvPicPr>
        <p:blipFill>
          <a:blip r:embed="rId7"/>
          <a:stretch/>
        </p:blipFill>
        <p:spPr>
          <a:xfrm>
            <a:off x="8331120" y="2743200"/>
            <a:ext cx="49500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Box 12"/>
          <p:cNvSpPr/>
          <p:nvPr/>
        </p:nvSpPr>
        <p:spPr>
          <a:xfrm>
            <a:off x="8331120" y="3409920"/>
            <a:ext cx="2350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Freelance Consultants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8331120" y="3772080"/>
            <a:ext cx="298404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Independent professionals managing multi-client initiatives, billable milestones, and daily project execution goals.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14" descr="image.png"/>
          <p:cNvPicPr/>
          <p:nvPr/>
        </p:nvPicPr>
        <p:blipFill>
          <a:blip r:embed="rId8"/>
          <a:stretch/>
        </p:blipFill>
        <p:spPr>
          <a:xfrm>
            <a:off x="981000" y="287640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15" descr="image.png"/>
          <p:cNvPicPr/>
          <p:nvPr/>
        </p:nvPicPr>
        <p:blipFill>
          <a:blip r:embed="rId9"/>
          <a:stretch/>
        </p:blipFill>
        <p:spPr>
          <a:xfrm>
            <a:off x="4722840" y="2876400"/>
            <a:ext cx="25668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16" descr="image.png"/>
          <p:cNvPicPr/>
          <p:nvPr/>
        </p:nvPicPr>
        <p:blipFill>
          <a:blip r:embed="rId10"/>
          <a:stretch/>
        </p:blipFill>
        <p:spPr>
          <a:xfrm>
            <a:off x="8464320" y="28764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17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Target Audience Personas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16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Core Use Case Architecture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2"/>
          <a:stretch/>
        </p:blipFill>
        <p:spPr>
          <a:xfrm>
            <a:off x="2280600" y="1371600"/>
            <a:ext cx="8006400" cy="46904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5695560" y="3492000"/>
            <a:ext cx="6191640" cy="26802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7" name="TextBox 2"/>
          <p:cNvSpPr/>
          <p:nvPr/>
        </p:nvSpPr>
        <p:spPr>
          <a:xfrm>
            <a:off x="619200" y="2052720"/>
            <a:ext cx="53049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The system adheres to an intuitive, state-driven user lifecycle that eliminates dead ends: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923760" y="2649240"/>
            <a:ext cx="75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1000080" y="2647800"/>
            <a:ext cx="49240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Entry Point:</a:t>
            </a: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User lands on Portal Homepage and authenticates securely into their personal workspace.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923760" y="3092040"/>
            <a:ext cx="75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1000080" y="3090960"/>
            <a:ext cx="49240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Branching Action:</a:t>
            </a: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The operator chooses either to register a new initiative or browse existing portfolios.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7"/>
          <p:cNvSpPr/>
          <p:nvPr/>
        </p:nvSpPr>
        <p:spPr>
          <a:xfrm>
            <a:off x="923760" y="3534840"/>
            <a:ext cx="75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1000080" y="3533760"/>
            <a:ext cx="49240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Task Decomposition:</a:t>
            </a: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Within an active project view, users append granular activities with specific deadlines.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9"/>
          <p:cNvSpPr/>
          <p:nvPr/>
        </p:nvSpPr>
        <p:spPr>
          <a:xfrm>
            <a:off x="923760" y="3978000"/>
            <a:ext cx="75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0"/>
          <p:cNvSpPr/>
          <p:nvPr/>
        </p:nvSpPr>
        <p:spPr>
          <a:xfrm>
            <a:off x="1000080" y="3976560"/>
            <a:ext cx="49240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Continuous Oversight:</a:t>
            </a: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Real-time task inspection allows single-click status updates and activity filtering.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System Process Workflow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78" name="Table 2"/>
          <p:cNvGraphicFramePr/>
          <p:nvPr/>
        </p:nvGraphicFramePr>
        <p:xfrm>
          <a:off x="464040" y="1184400"/>
          <a:ext cx="10944000" cy="2920680"/>
        </p:xfrm>
        <a:graphic>
          <a:graphicData uri="http://schemas.openxmlformats.org/drawingml/2006/table">
            <a:tbl>
              <a:tblPr/>
              <a:tblGrid>
                <a:gridCol w="1715760"/>
                <a:gridCol w="2155680"/>
                <a:gridCol w="4553280"/>
                <a:gridCol w="2518560"/>
              </a:tblGrid>
              <a:tr h="4867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 SemiBold"/>
                        </a:rPr>
                        <a:t>Architectural Layer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 SemiBold"/>
                        </a:rPr>
                        <a:t>Core Technology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 SemiBold"/>
                        </a:rPr>
                        <a:t>Technical Rationale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 SemiBold"/>
                        </a:rPr>
                        <a:t>Deployment Benefit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4867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Backend Core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Python 3.11 Runtime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High computational clarity and robust standard library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Rapid development velocity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867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Web Framework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Django Framework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Built-in ORM, secure authentication, and MVC scaffolding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Enterprise-grade security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867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Relational Database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SQLite / PostgreSQL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ACID-compliant storage supporting nested task relationships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Lightweight, zero-latency queries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867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User Interface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HTML5 + CSS3 + Bootstrap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Responsive grid system optimized for desktop and tablet screens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Clean, accessible styling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8672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Client Interactivity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Vanilla JavaScript (ES6+)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Asynchronous modal updates and immediate status feedback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Inter"/>
                        </a:rPr>
                        <a:t>Friction-free UX without bloat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9" name="Rectangle 3"/>
          <p:cNvSpPr/>
          <p:nvPr/>
        </p:nvSpPr>
        <p:spPr>
          <a:xfrm>
            <a:off x="623880" y="2799360"/>
            <a:ext cx="171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4"/>
          <p:cNvSpPr/>
          <p:nvPr/>
        </p:nvSpPr>
        <p:spPr>
          <a:xfrm>
            <a:off x="2340000" y="2799360"/>
            <a:ext cx="2155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5"/>
          <p:cNvSpPr/>
          <p:nvPr/>
        </p:nvSpPr>
        <p:spPr>
          <a:xfrm>
            <a:off x="4495680" y="2799360"/>
            <a:ext cx="4553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6"/>
          <p:cNvSpPr/>
          <p:nvPr/>
        </p:nvSpPr>
        <p:spPr>
          <a:xfrm>
            <a:off x="9049320" y="2799360"/>
            <a:ext cx="2518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7"/>
          <p:cNvSpPr/>
          <p:nvPr/>
        </p:nvSpPr>
        <p:spPr>
          <a:xfrm>
            <a:off x="623880" y="3282120"/>
            <a:ext cx="171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8"/>
          <p:cNvSpPr/>
          <p:nvPr/>
        </p:nvSpPr>
        <p:spPr>
          <a:xfrm>
            <a:off x="2340000" y="3282120"/>
            <a:ext cx="2155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9"/>
          <p:cNvSpPr/>
          <p:nvPr/>
        </p:nvSpPr>
        <p:spPr>
          <a:xfrm>
            <a:off x="4495680" y="3282120"/>
            <a:ext cx="4553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10"/>
          <p:cNvSpPr/>
          <p:nvPr/>
        </p:nvSpPr>
        <p:spPr>
          <a:xfrm>
            <a:off x="9049320" y="3282120"/>
            <a:ext cx="2518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11"/>
          <p:cNvSpPr/>
          <p:nvPr/>
        </p:nvSpPr>
        <p:spPr>
          <a:xfrm>
            <a:off x="623880" y="3764880"/>
            <a:ext cx="171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12"/>
          <p:cNvSpPr/>
          <p:nvPr/>
        </p:nvSpPr>
        <p:spPr>
          <a:xfrm>
            <a:off x="2340000" y="3764880"/>
            <a:ext cx="2155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3"/>
          <p:cNvSpPr/>
          <p:nvPr/>
        </p:nvSpPr>
        <p:spPr>
          <a:xfrm>
            <a:off x="4495680" y="3764880"/>
            <a:ext cx="4553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14"/>
          <p:cNvSpPr/>
          <p:nvPr/>
        </p:nvSpPr>
        <p:spPr>
          <a:xfrm>
            <a:off x="9049320" y="3764880"/>
            <a:ext cx="2518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15"/>
          <p:cNvSpPr/>
          <p:nvPr/>
        </p:nvSpPr>
        <p:spPr>
          <a:xfrm>
            <a:off x="623880" y="4248000"/>
            <a:ext cx="171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16"/>
          <p:cNvSpPr/>
          <p:nvPr/>
        </p:nvSpPr>
        <p:spPr>
          <a:xfrm>
            <a:off x="2340000" y="4248000"/>
            <a:ext cx="2155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17"/>
          <p:cNvSpPr/>
          <p:nvPr/>
        </p:nvSpPr>
        <p:spPr>
          <a:xfrm>
            <a:off x="4495680" y="4248000"/>
            <a:ext cx="4553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18"/>
          <p:cNvSpPr/>
          <p:nvPr/>
        </p:nvSpPr>
        <p:spPr>
          <a:xfrm>
            <a:off x="9049320" y="4248000"/>
            <a:ext cx="2518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9"/>
          <p:cNvSpPr/>
          <p:nvPr/>
        </p:nvSpPr>
        <p:spPr>
          <a:xfrm>
            <a:off x="623880" y="4730760"/>
            <a:ext cx="17157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20"/>
          <p:cNvSpPr/>
          <p:nvPr/>
        </p:nvSpPr>
        <p:spPr>
          <a:xfrm>
            <a:off x="2340000" y="4730760"/>
            <a:ext cx="21556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21"/>
          <p:cNvSpPr/>
          <p:nvPr/>
        </p:nvSpPr>
        <p:spPr>
          <a:xfrm>
            <a:off x="4495680" y="4730760"/>
            <a:ext cx="455328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22"/>
          <p:cNvSpPr/>
          <p:nvPr/>
        </p:nvSpPr>
        <p:spPr>
          <a:xfrm>
            <a:off x="9049320" y="4730760"/>
            <a:ext cx="251856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Technology Infrastructure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"/>
          <p:cNvPicPr/>
          <p:nvPr/>
        </p:nvPicPr>
        <p:blipFill>
          <a:blip r:embed="rId2"/>
          <a:stretch/>
        </p:blipFill>
        <p:spPr>
          <a:xfrm>
            <a:off x="8810640" y="4343400"/>
            <a:ext cx="3381120" cy="21618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Box 2"/>
          <p:cNvSpPr/>
          <p:nvPr/>
        </p:nvSpPr>
        <p:spPr>
          <a:xfrm>
            <a:off x="619200" y="523800"/>
            <a:ext cx="5550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Interactive System Prototype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3" descr="image.png"/>
          <p:cNvPicPr/>
          <p:nvPr/>
        </p:nvPicPr>
        <p:blipFill>
          <a:blip r:embed="rId2"/>
          <a:stretch/>
        </p:blipFill>
        <p:spPr>
          <a:xfrm>
            <a:off x="6286680" y="0"/>
            <a:ext cx="59050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4"/>
          <p:cNvSpPr/>
          <p:nvPr/>
        </p:nvSpPr>
        <p:spPr>
          <a:xfrm>
            <a:off x="619200" y="2946240"/>
            <a:ext cx="55504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284C7"/>
                </a:solidFill>
                <a:effectLst/>
                <a:uFillTx/>
                <a:latin typeface="Plus Jakarta Sans SemiBold"/>
              </a:rPr>
              <a:t>Modernized Web Interface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5"/>
          <p:cNvSpPr/>
          <p:nvPr/>
        </p:nvSpPr>
        <p:spPr>
          <a:xfrm>
            <a:off x="619200" y="3308040"/>
            <a:ext cx="52858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The clean dashboard view manages real-world workflows like the OmniLogistics Hub, Clinical Operations Suite, and Campus Portal.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6"/>
          <p:cNvSpPr/>
          <p:nvPr/>
        </p:nvSpPr>
        <p:spPr>
          <a:xfrm>
            <a:off x="619200" y="3948120"/>
            <a:ext cx="528588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9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Users inspect project metadata, update active milestones, and view nested task dependencies within an uncluttered single-page view.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Box 2"/>
          <p:cNvSpPr/>
          <p:nvPr/>
        </p:nvSpPr>
        <p:spPr>
          <a:xfrm>
            <a:off x="619200" y="3009960"/>
            <a:ext cx="530496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9374"/>
              </a:lnSpc>
            </a:pPr>
            <a:r>
              <a:rPr lang="en-US" sz="9370" b="1" u="none" strike="noStrike">
                <a:solidFill>
                  <a:srgbClr val="0284C7"/>
                </a:solidFill>
                <a:effectLst/>
                <a:uFillTx/>
                <a:latin typeface="Plus Jakarta Sans"/>
              </a:rPr>
              <a:t>3.5x</a:t>
            </a:r>
            <a:endParaRPr lang="en-US" sz="9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"/>
          <p:cNvSpPr/>
          <p:nvPr/>
        </p:nvSpPr>
        <p:spPr>
          <a:xfrm>
            <a:off x="619200" y="4295880"/>
            <a:ext cx="5304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Increased Task Visibility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"/>
          <p:cNvSpPr/>
          <p:nvPr/>
        </p:nvSpPr>
        <p:spPr>
          <a:xfrm>
            <a:off x="6267600" y="2899080"/>
            <a:ext cx="5570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lus Jakarta Sans SemiBold"/>
              </a:rPr>
              <a:t>Expected Operational Contributions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5"/>
          <p:cNvSpPr/>
          <p:nvPr/>
        </p:nvSpPr>
        <p:spPr>
          <a:xfrm>
            <a:off x="6267600" y="3261240"/>
            <a:ext cx="530496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Enhanced Productivity &amp; Coordination:</a:t>
            </a: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Eliminates duplicate communication channels and guarantees real-time synchronicity across team members.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6"/>
          <p:cNvSpPr/>
          <p:nvPr/>
        </p:nvSpPr>
        <p:spPr>
          <a:xfrm>
            <a:off x="6267600" y="3837240"/>
            <a:ext cx="5304960" cy="6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Superior Decision-Making Control:</a:t>
            </a: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Dynamic project health indicators and structured activity breakdowns empower stakeholders to allocate resources with precision.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7"/>
          <p:cNvSpPr/>
          <p:nvPr/>
        </p:nvSpPr>
        <p:spPr>
          <a:xfrm>
            <a:off x="619200" y="476280"/>
            <a:ext cx="115009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Anticipated Project Impact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Box 2"/>
          <p:cNvSpPr/>
          <p:nvPr/>
        </p:nvSpPr>
        <p:spPr>
          <a:xfrm>
            <a:off x="345240" y="476280"/>
            <a:ext cx="115009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500" b="1" u="none" strike="noStrike">
                <a:solidFill>
                  <a:srgbClr val="0F172A"/>
                </a:solidFill>
                <a:effectLst/>
                <a:uFillTx/>
                <a:latin typeface="Plus Jakarta Sans"/>
              </a:rPr>
              <a:t>Questions &amp; Discussion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619200" y="1324080"/>
            <a:ext cx="109533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324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Thank you for your time. We invite feedback on the Planix architecture and deployment roadmap.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7" name="Picture 4" descr="image.png"/>
          <p:cNvPicPr/>
          <p:nvPr/>
        </p:nvPicPr>
        <p:blipFill>
          <a:blip r:embed="rId2"/>
          <a:stretch/>
        </p:blipFill>
        <p:spPr>
          <a:xfrm>
            <a:off x="2690640" y="2019240"/>
            <a:ext cx="6810120" cy="4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Box 5"/>
          <p:cNvSpPr/>
          <p:nvPr/>
        </p:nvSpPr>
        <p:spPr>
          <a:xfrm>
            <a:off x="2967120" y="2162160"/>
            <a:ext cx="1571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108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A"/>
                </a:solidFill>
                <a:effectLst/>
                <a:uFillTx/>
                <a:latin typeface="Inter SemiBold"/>
              </a:rPr>
              <a:t>Planix Project Suite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4729320" y="2162160"/>
            <a:ext cx="2676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292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A"/>
                </a:solidFill>
                <a:effectLst/>
                <a:uFillTx/>
                <a:latin typeface="Inter SemiBold"/>
              </a:rPr>
              <a:t>Metropolitan Institute of Technology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7596360" y="2162160"/>
            <a:ext cx="16282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384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F172A"/>
                </a:solidFill>
                <a:effectLst/>
                <a:uFillTx/>
                <a:latin typeface="Inter SemiBold"/>
              </a:rPr>
              <a:t>Academic Year 2026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8" descr="image.png"/>
          <p:cNvPicPr/>
          <p:nvPr/>
        </p:nvPicPr>
        <p:blipFill>
          <a:blip r:embed="rId3"/>
          <a:stretch/>
        </p:blipFill>
        <p:spPr>
          <a:xfrm>
            <a:off x="2967120" y="2181240"/>
            <a:ext cx="1807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9" descr="image.png"/>
          <p:cNvPicPr/>
          <p:nvPr/>
        </p:nvPicPr>
        <p:blipFill>
          <a:blip r:embed="rId4"/>
          <a:stretch/>
        </p:blipFill>
        <p:spPr>
          <a:xfrm>
            <a:off x="4729320" y="218124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10" descr="image.png"/>
          <p:cNvPicPr/>
          <p:nvPr/>
        </p:nvPicPr>
        <p:blipFill>
          <a:blip r:embed="rId5"/>
          <a:stretch/>
        </p:blipFill>
        <p:spPr>
          <a:xfrm>
            <a:off x="7596360" y="2181240"/>
            <a:ext cx="12348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LibreOffice/26.8.0.3$Linux_AARCH64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2026-09-16T12:50:35Z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